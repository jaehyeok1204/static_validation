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6"/>
          </a:solidFill>
          <a:ln w="12700">
            <a:solidFill>
              <a:srgbClr val="0A0F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43400"/>
            <a:ext cx="12188952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38912"/>
            <a:ext cx="2103120" cy="475488"/>
          </a:xfrm>
          <a:prstGeom prst="rect">
            <a:avLst>
              <a:gd name="adj" fmla="val 50000"/>
            </a:avLst>
          </a:prstGeom>
          <a:solidFill>
            <a:srgbClr val="0D2A4D"/>
          </a:solidFill>
          <a:ln w="12700">
            <a:solidFill>
              <a:srgbClr val="1D4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389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VPC-S 1.2 HEV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1247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</a:rPr>
              <a:t>정적검증 업무 관리 포탈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</a:rPr>
              <a:t>Static Verification Management Portal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모델 기반 소프트웨어 개발(MBD) 환경에서 MISRA/MAB 규칙 기반 정적검증 업무를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체계적으로 관리하기 위한 클라우드 네이티브 웹 애플리케이션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681728"/>
            <a:ext cx="2697480" cy="1417320"/>
          </a:xfrm>
          <a:prstGeom prst="rect">
            <a:avLst>
              <a:gd name="adj" fmla="val 6452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864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</a:rPr>
              <a:t>프로젝트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VPC-S 1.2 HEV 정적검증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4681728"/>
            <a:ext cx="2697480" cy="1417320"/>
          </a:xfrm>
          <a:prstGeom prst="rect">
            <a:avLst>
              <a:gd name="adj" fmla="val 6452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4864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</a:rPr>
              <a:t>발표일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38728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2026년 3월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4681728"/>
            <a:ext cx="2697480" cy="1417320"/>
          </a:xfrm>
          <a:prstGeom prst="rect">
            <a:avLst>
              <a:gd name="adj" fmla="val 6452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4864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</a:rPr>
              <a:t>플랫폼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19088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Web (Next.js 16)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4681728"/>
            <a:ext cx="2697480" cy="1417320"/>
          </a:xfrm>
          <a:prstGeom prst="rect">
            <a:avLst>
              <a:gd name="adj" fmla="val 6452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4864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</a:rPr>
              <a:t>배포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99448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GitHub Pages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정적검증(Static Verification)이란?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소프트웨어를 실제 실행하지 않고 코드·모델의 규칙 준수 여부를 자동 분석하는 기법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577840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557784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819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2020824"/>
            <a:ext cx="5248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정적검증 개요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2368296"/>
            <a:ext cx="524865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Simulink/MATLAB 등 모델 기반 코드에서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MISRA-AC-SLSF 및 MAB(Model Advisor Best Practice) 규칙을 자동으로 검사합니다.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실행 없이 설계 단계에서 오류를 사전에 탐지하여 개발 비용을 획기적으로 절감합니다.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16752" y="1417320"/>
            <a:ext cx="5852160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1417320"/>
            <a:ext cx="585216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5819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81344" y="2020824"/>
            <a:ext cx="5522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적용 규칙 체계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2368296"/>
            <a:ext cx="5522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MAB 규칙 (Model Advisor Best Practice)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2642616"/>
            <a:ext cx="5522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115개 규칙 — MAB_AR, MAB_DB, MAB_JC, MAB_NA 카테고리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1344" y="2916936"/>
            <a:ext cx="5522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MISRA-AC-SLSF 규칙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3227832"/>
            <a:ext cx="5522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155개 규칙 — Simulink/Stateflow 코딩 표준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1344" y="3502152"/>
            <a:ext cx="5522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</a:rPr>
              <a:t>총 270개 규칙 × 16개 서브시스템 교차 분석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84048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</a:rPr>
              <a:t>🚫  기존 정적검증 업무의 한계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4315968"/>
            <a:ext cx="2788920" cy="2148840"/>
          </a:xfrm>
          <a:prstGeom prst="rect">
            <a:avLst>
              <a:gd name="adj" fmla="val 42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78992" y="4480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Excel 기반 수작업 집계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956048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버전마다 수십 개 시트를 수동으로 작성·취합 → 휴먼 에러 발생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4315968"/>
            <a:ext cx="2788920" cy="2148840"/>
          </a:xfrm>
          <a:prstGeom prst="rect">
            <a:avLst>
              <a:gd name="adj" fmla="val 42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🔍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023360" y="4480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규칙 위배 추적 어려움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7288" y="4956048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16개 서브시스템 × 270개 규칙의 위배 이력 관리 불가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4315968"/>
            <a:ext cx="2788920" cy="2148840"/>
          </a:xfrm>
          <a:prstGeom prst="rect">
            <a:avLst>
              <a:gd name="adj" fmla="val 42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⏱️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967728" y="4480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소요시간 측정 체계 없음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91656" y="4956048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검증 공수 산정 기준이 없어 일정 예측 불가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53144" y="4315968"/>
            <a:ext cx="2788920" cy="2148840"/>
          </a:xfrm>
          <a:prstGeom prst="rect">
            <a:avLst>
              <a:gd name="adj" fmla="val 42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81744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🤖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912096" y="4480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AI 활용 부재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36024" y="4956048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위배 분석·리스크 식별에 전문가 의존, 자동화 없음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프로젝트 필요성 &amp; 목표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기존 업무 방식의 문제를 해결하기 위해 탄생한 통합 웹 포탈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BEFORE  —  기존 방식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</a:rPr>
              <a:t>❌  버전별 Excel 파일 수동 관리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</a:rPr>
              <a:t>❌  위배 건수 수작업 집계 (오류 빈번)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77977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</a:rPr>
              <a:t>❌  팀원 간 데이터 공유 어려움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25526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</a:rPr>
              <a:t>❌  이슈·리스크 추적 체계 없음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73075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</a:rPr>
              <a:t>❌  AI 분석 없이 주관적 판단 의존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420624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</a:rPr>
              <a:t>❌  보고서 매번 새로 작성 (반복 노동)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200400"/>
            <a:ext cx="6400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907792"/>
            <a:ext cx="685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650992" y="352044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이 포탈로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해결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417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</a:rPr>
              <a:t>AFTER  —  이 포탈 적용 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</a:rPr>
              <a:t>✅  버전별 데이터 자동 클라우드 저장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30428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</a:rPr>
              <a:t>✅  규칙·서브시스템별 위배 실시간 집계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779776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</a:rPr>
              <a:t>✅  팀 단위 계정 관리 &amp; 동시 접근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25526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</a:rPr>
              <a:t>✅  이슈/리스크 등록·추적·AI 분석 자동화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730752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</a:rPr>
              <a:t>✅  Gemini AI 실시간 현황 분석 리포트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20624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</a:rPr>
              <a:t>✅  AI 보고서 초안 자동 생성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864608"/>
            <a:ext cx="11548872" cy="1737360"/>
          </a:xfrm>
          <a:prstGeom prst="rect">
            <a:avLst>
              <a:gd name="adj" fmla="val 5263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974336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🎯  이 프로젝트의 목표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① 정적검증 전 과정을 단일 웹 포탈에서 통합 관리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56327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② AI(Gemini)를 활용한 위배 분석·리스크 식별 자동화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9070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③ 실시간 클라우드 동기화로 팀 전체가 최신 데이터 공유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181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④ CI/CD 파이프라인으로 무중단 배포 및 접근성 보장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주요 기능 소개 (15개 화면)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사이드바 10개 메뉴 + 인증 5개 페이지로 구성된 완전한 업무 포탈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28346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53619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157276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정적검증 현황 대시보드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197510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진척도·Component/Runnable 검사 통계·추이 그래프·AI 실시간 분석 리포트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144475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444752"/>
            <a:ext cx="283464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53619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🏗️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31336" y="157276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서브시스템별 현황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92424" y="197510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A~P 16개 서브시스템의 위배 건수·분석 완료·진척률 한눈에 조회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08776" y="144475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444752"/>
            <a:ext cx="283464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53619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75704" y="157276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규칙 설명 &amp; 중요도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197510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MAB/MISRA 규칙별 위배 현황, 서브시스템 교차 분석 테이블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53144" y="144475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53144" y="1444752"/>
            <a:ext cx="2834640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153619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🐛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720072" y="157276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이슈 관리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81160" y="197510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이슈 등록·분류·해결 추적, AI 자동 해결 방안 추천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90779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907792"/>
            <a:ext cx="283464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299923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⚠️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86968" y="303580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업무 리스크 관리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" y="343814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Gemini AI가 자동 생성하는 Low/Medium/High 리스크 분석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64408" y="290779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2907792"/>
            <a:ext cx="283464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92424" y="299923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⏱️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831336" y="303580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소요시간 평가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92424" y="343814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버전별 Component/Runnable 검사 소요시간 비교·증감 판정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08776" y="290779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8776" y="2907792"/>
            <a:ext cx="283464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299923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📝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75704" y="303580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AI 보고서 초안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36792" y="343814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팀용·고객용 보고서 초안 자동 생성 및 편집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53144" y="290779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53144" y="2907792"/>
            <a:ext cx="2834640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81160" y="299923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💬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720072" y="303580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Gemini AI 업무 대화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81160" y="343814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업무 데이터 기반 인터랙티브 AI 어시스턴트, 채팅 히스토리 저장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37083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370832"/>
            <a:ext cx="2834640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" y="446227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🗂️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86968" y="449884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데이터 통합 에디터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8056" y="490118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버전 생성·전체 검증 데이터 CRUD, JSON Export/Import 백업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64408" y="4370832"/>
            <a:ext cx="2834640" cy="1353312"/>
          </a:xfrm>
          <a:prstGeom prst="rect">
            <a:avLst>
              <a:gd name="adj" fmla="val 6757"/>
            </a:avLst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64408" y="4370832"/>
            <a:ext cx="2834640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92424" y="446227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</a:rPr>
              <a:t>⚙️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831336" y="4498848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환경 설정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92424" y="4901184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테마(4종) 전환, Gemini API 키 관리, 계정 정보 수정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0040" y="6419088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인증 페이지 (5개): 로그인 · 회원가입 · 아이디 찾기 · 비밀번호 재설정 요청 · 비밀번호 재설정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시스템 아키텍처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클라이언트-클라우드 분리 구조로 CORS 없이 안전하게 운영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1548872" cy="1508760"/>
          </a:xfrm>
          <a:prstGeom prst="rect">
            <a:avLst>
              <a:gd name="adj" fmla="val 6061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64008" cy="1508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클라이언트 레이어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65960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Next.js 16 (Static Export)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1965960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React 19 Components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4768" y="1965960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Zustand 전역 상태관리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33688" y="1965960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TailwindCSS 4 테마 시스템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27248"/>
            <a:ext cx="11548872" cy="1508760"/>
          </a:xfrm>
          <a:prstGeom prst="rect">
            <a:avLst>
              <a:gd name="adj" fmla="val 6061"/>
            </a:avLst>
          </a:prstGeom>
          <a:solidFill>
            <a:srgbClr val="21262D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27248"/>
            <a:ext cx="64008" cy="150876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2186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</a:rPr>
              <a:t>클라우드 백엔드 레이어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630168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7856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Supabase PostgreSQL (4 Tables)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3630168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37856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REST API via supabase-js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3630168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7856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SQL Trigger (이메일 발송)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33688" y="3630168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61704" y="37856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Row Level Security 준비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791456"/>
            <a:ext cx="11548872" cy="1508760"/>
          </a:xfrm>
          <a:prstGeom prst="rect">
            <a:avLst>
              <a:gd name="adj" fmla="val 6061"/>
            </a:avLst>
          </a:prstGeom>
          <a:solidFill>
            <a:srgbClr val="21262D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791456"/>
            <a:ext cx="64008" cy="150876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882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</a:rPr>
              <a:t>외부 API 레이어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294376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54498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Google Gemini API (생성형 AI)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55848" y="5294376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54498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Resend Email API (DB Trigger 경유)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5294376"/>
            <a:ext cx="2633472" cy="804672"/>
          </a:xfrm>
          <a:prstGeom prst="rect">
            <a:avLst>
              <a:gd name="adj" fmla="val 1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54498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GitHub Pages CDN (정적 호스팅)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42432" y="3017520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↕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742432" y="4681728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↕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20040" y="6364224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모든 데이터 흐름은 브라우저 ↔ Supabase REST 방식으로 처리 (서버리스). 이메일 발송은 DB Trigger가 직접 처리하여 CORS 문제를 원천 차단합니다.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기술 스택 상세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선택 이유와 함께 살펴보는 주요 기술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730752" cy="2331720"/>
          </a:xfrm>
          <a:prstGeom prst="rect">
            <a:avLst>
              <a:gd name="adj" fmla="val 3922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37307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⚛️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Next.js 16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+ React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💡 선택 이유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Static Export 모드로 별도 서버 없이 GitHub Pages 배포 가능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App Router로 레이아웃·인증 공통 처리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⚙️ 적용 방식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output:"export", authWrapper HOC, Zustand 상태 공유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42232" y="1444752"/>
            <a:ext cx="3730752" cy="2331720"/>
          </a:xfrm>
          <a:prstGeom prst="rect">
            <a:avLst>
              <a:gd name="adj" fmla="val 3922"/>
            </a:avLst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42232" y="1444752"/>
            <a:ext cx="3730752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536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82312" y="155448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Zustand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(상태관리)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79392" y="210312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</a:rPr>
              <a:t>💡 선택 이유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79392" y="232257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Redux 대비 보일러플레이트 없음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persist 미들웨어로 새로고침 후 상태 복원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79392" y="29260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</a:rPr>
              <a:t>⚙️ 적용 방식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79392" y="314553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단일 useStore로 전역 관리, syncToDB 자동 호출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64424" y="1444752"/>
            <a:ext cx="3730752" cy="2331720"/>
          </a:xfrm>
          <a:prstGeom prst="rect">
            <a:avLst>
              <a:gd name="adj" fmla="val 3922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64424" y="1444752"/>
            <a:ext cx="3730752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1584" y="1536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🗄️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04504" y="155448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Supabase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(PostgreSQL)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01584" y="210312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💡 선택 이유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01584" y="232257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Serverless BaaS — 인프라 관리 불필요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REST API + Realtime 지원, 무료 티어 충분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01584" y="29260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E787"/>
                </a:solidFill>
              </a:rPr>
              <a:t>⚙️ 적용 방식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01584" y="314553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4개 테이블, SQL Trigger, anon key 클라이언트 직접 접근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867912"/>
            <a:ext cx="3730752" cy="2331720"/>
          </a:xfrm>
          <a:prstGeom prst="rect">
            <a:avLst>
              <a:gd name="adj" fmla="val 3922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67912"/>
            <a:ext cx="3730752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🤖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60120" y="39776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Google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Gemini API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💡 선택 이유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4573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최신 LLM 모델 동적 탐색으로 항상 최적 모델 사용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한국어 품질 우수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34924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</a:rPr>
              <a:t>⚙️ 적용 방식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56869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analyzeDataWithAI() — 모델 자동 선택, 5개 fallback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42232" y="3867912"/>
            <a:ext cx="3730752" cy="2331720"/>
          </a:xfrm>
          <a:prstGeom prst="rect">
            <a:avLst>
              <a:gd name="adj" fmla="val 3922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42232" y="3867912"/>
            <a:ext cx="3730752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9392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📧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782312" y="39776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Resend API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(DB Trigger)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279392" y="45262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</a:rPr>
              <a:t>💡 선택 이유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79392" y="474573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프론트에서 직접 호출 시 CORS·API 키 노출 문제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DB Trigger가 서버 측에서 직접 호출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79392" y="534924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</a:rPr>
              <a:t>⚙️ 적용 방식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79392" y="556869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SQL함수 send_verification_email_v2() + http_post()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64424" y="3867912"/>
            <a:ext cx="3730752" cy="2331720"/>
          </a:xfrm>
          <a:prstGeom prst="rect">
            <a:avLst>
              <a:gd name="adj" fmla="val 3922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64424" y="3867912"/>
            <a:ext cx="3730752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01584" y="3959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EDF3"/>
                </a:solidFill>
              </a:rPr>
              <a:t>🚀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8604504" y="39776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GitHub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Actions &amp; Pages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01584" y="452628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💡 선택 이유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01584" y="474573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별도 호스팅 비용 없음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push만으로 자동 빌드·배포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01584" y="5349240"/>
            <a:ext cx="3456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⚙️ 적용 방식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101584" y="5568696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build job → deploy job, SUPABASE 시크릿 주입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데이터 구조 &amp; 버전 관리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검증 이력을 버전 단위로 누적 관리하는 데이터 아키텍처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</a:rPr>
              <a:t>📌  버전 체인 구조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2542032" cy="960120"/>
          </a:xfrm>
          <a:prstGeom prst="rect">
            <a:avLst>
              <a:gd name="adj" fmla="val 9524"/>
            </a:avLst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v1.0 초도 검증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VersionData 저장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62072" y="21031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A8F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99816" y="1810512"/>
            <a:ext cx="2542032" cy="960120"/>
          </a:xfrm>
          <a:prstGeom prst="rect">
            <a:avLst>
              <a:gd name="adj" fmla="val 9524"/>
            </a:avLst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v1.1 1차 위배 분석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36976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VersionData 저장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41848" y="21031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A8F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79592" y="1810512"/>
            <a:ext cx="2542032" cy="960120"/>
          </a:xfrm>
          <a:prstGeom prst="rect">
            <a:avLst>
              <a:gd name="adj" fmla="val 9524"/>
            </a:avLst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v1.2 수정 후 재검증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6752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VersionData 저장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21624" y="2103120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A8F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59368" y="1810512"/>
            <a:ext cx="2542032" cy="960120"/>
          </a:xfrm>
          <a:prstGeom prst="rect">
            <a:avLst>
              <a:gd name="adj" fmla="val 9524"/>
            </a:avLst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1901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v2.0 사양 변경 검증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96528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VersionData 저장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85292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※ 버전 수 무제한 — 생성·삭제 가능, 모든 버전 데이터 Supabase app_state에 JSON으로 영구 보존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2186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📂  VersionData 구조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584448"/>
            <a:ext cx="5486400" cy="3017520"/>
          </a:xfrm>
          <a:prstGeom prst="rect">
            <a:avLst>
              <a:gd name="adj" fmla="val 303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657600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dashboardData    — 진척도, 일정상태, AI요약, 검사통계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3986784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chartData         — 날짜별 검출/분석 추이 (꺾은선 그래프)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431596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subsystemsList   — 16개 서브시스템 위배·진척률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" y="4645152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rulesList          — MAB/MISRA 규칙별 서브시스템 교차 위배수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" y="4974336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issuesList         — 이슈 목록 + AI 추천 해결방안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" y="5303520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risksList           — AI 자동 생성 리스크 (Low/Med/High)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" y="5632704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timeEvaluation   — Component/Runnable 소요시간 비교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5961888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reportsDraft      — 팀용·고객용 AI 보고서 초안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32186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</a:rPr>
              <a:t>🗄️  Supabase DB 테이블 (4개)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89320" y="3584448"/>
            <a:ext cx="5852160" cy="585216"/>
          </a:xfrm>
          <a:prstGeom prst="rect">
            <a:avLst>
              <a:gd name="adj" fmla="val 1562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63931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94192" y="36393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사원번호·해시PW·이메일·Gemini키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9320" y="4242816"/>
            <a:ext cx="5852160" cy="585216"/>
          </a:xfrm>
          <a:prstGeom prst="rect">
            <a:avLst>
              <a:gd name="adj" fmla="val 1562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42976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app_state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94192" y="42976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전체 버전 데이터 JSON (id=1)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4901184"/>
            <a:ext cx="5852160" cy="585216"/>
          </a:xfrm>
          <a:prstGeom prst="rect">
            <a:avLst>
              <a:gd name="adj" fmla="val 1562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4956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verification_codes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94192" y="49560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비번재설정 6자리 코드 (10분만료)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5559552"/>
            <a:ext cx="5852160" cy="585216"/>
          </a:xfrm>
          <a:prstGeom prst="rect">
            <a:avLst>
              <a:gd name="adj" fmla="val 15625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56144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chat_messages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94192" y="561441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채팅 로그 (user_id별 50건)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AI 기능 심층 분석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Google Gemini가 정적검증 업무에 통합되는 3가지 방법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749040" cy="3108960"/>
          </a:xfrm>
          <a:prstGeom prst="rect">
            <a:avLst>
              <a:gd name="adj" fmla="val 2941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3749040" cy="5486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72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96696" y="15910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대시보드 AI 요약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696" y="1956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runAIAnalysis()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304288"/>
            <a:ext cx="3419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버전의 진척도·일정·이슈·규칙위배 현황을 종합하여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정적검증 전문가 시각의 3~4문장 한국어 리포트 자동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3273552"/>
            <a:ext cx="3419856" cy="786384"/>
          </a:xfrm>
          <a:prstGeom prst="rect">
            <a:avLst>
              <a:gd name="adj" fmla="val 1162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346704"/>
            <a:ext cx="3236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결과: dashboardData.aiSummary → Supabase 동기화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463040"/>
            <a:ext cx="3749040" cy="3108960"/>
          </a:xfrm>
          <a:prstGeom prst="rect">
            <a:avLst>
              <a:gd name="adj" fmla="val 2941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463040"/>
            <a:ext cx="374904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1572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</a:rPr>
              <a:t>⚠️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28616" y="15910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리스크 AI 자동 분석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8616" y="1956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runAIRiskAnalysis()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16552" y="2304288"/>
            <a:ext cx="3419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진척도·이슈 목록을 분석하여 프로젝트 위험 요소를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JSON 배열(title/content/aiRecommendation/level) 3개 자동 산출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16552" y="3273552"/>
            <a:ext cx="3419856" cy="786384"/>
          </a:xfrm>
          <a:prstGeom prst="rect">
            <a:avLst>
              <a:gd name="adj" fmla="val 1162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3346704"/>
            <a:ext cx="3236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결과: risksList → 위험도(Low/Med/High) 카드 표시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83880" y="1463040"/>
            <a:ext cx="3749040" cy="3108960"/>
          </a:xfrm>
          <a:prstGeom prst="rect">
            <a:avLst>
              <a:gd name="adj" fmla="val 2941"/>
            </a:avLst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1463040"/>
            <a:ext cx="374904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1572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</a:rPr>
              <a:t>💬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860536" y="15910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AI 채팅 어시스턴트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0536" y="1956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chat_messages 테이블 연동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48472" y="2304288"/>
            <a:ext cx="3419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현재 프로젝트 컨텍스트 + 최근 5개 대화를 포함한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인터랙티브 업무 대화 — 데이터 학습·피드백·요약 요청 가능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48472" y="3273552"/>
            <a:ext cx="3419856" cy="786384"/>
          </a:xfrm>
          <a:prstGeom prst="rect">
            <a:avLst>
              <a:gd name="adj" fmla="val 1162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9912" y="3346704"/>
            <a:ext cx="3236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결과: chat_messages 테이블 영구 저장 (최대 50건 조회)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709160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</a:rPr>
              <a:t>⚙️  Gemini API 호출 메커니즘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5074920"/>
            <a:ext cx="11521440" cy="1508760"/>
          </a:xfrm>
          <a:prstGeom prst="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230368"/>
            <a:ext cx="1755648" cy="1207008"/>
          </a:xfrm>
          <a:prstGeom prst="rect">
            <a:avLst>
              <a:gd name="adj" fmla="val 7576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30352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1. API 키 확인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62356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사용자 저장 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우선, 없으면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환경변수 사용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12848" y="5650992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350008" y="5230368"/>
            <a:ext cx="1755648" cy="1207008"/>
          </a:xfrm>
          <a:prstGeom prst="rect">
            <a:avLst>
              <a:gd name="adj" fmla="val 7576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530352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2. 모델 탐색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41448" y="562356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listAvailableModels()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실시간 사용 가능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모델 목록 조회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05656" y="5650992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42816" y="5230368"/>
            <a:ext cx="1755648" cy="1207008"/>
          </a:xfrm>
          <a:prstGeom prst="rect">
            <a:avLst>
              <a:gd name="adj" fmla="val 7576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34256" y="530352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3. 모델 필터링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34256" y="562356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flash/pro/gemini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포함 모델만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우선 선택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98464" y="5650992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35624" y="5230368"/>
            <a:ext cx="1755648" cy="1207008"/>
          </a:xfrm>
          <a:prstGeom prst="rect">
            <a:avLst>
              <a:gd name="adj" fmla="val 7576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530352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4. 순차 시도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27064" y="562356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v1beta → 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API 버전 교차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5개 Fallback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91272" y="5650992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028432" y="5230368"/>
            <a:ext cx="1755648" cy="1207008"/>
          </a:xfrm>
          <a:prstGeom prst="rect">
            <a:avLst>
              <a:gd name="adj" fmla="val 7576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19872" y="530352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5. 응답 파싱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19872" y="562356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텍스트 추출,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JSON 클렌징,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마크다운 제거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784080" y="5650992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921240" y="5230368"/>
            <a:ext cx="1755648" cy="1207008"/>
          </a:xfrm>
          <a:prstGeom prst="rect">
            <a:avLst>
              <a:gd name="adj" fmla="val 7576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12680" y="530352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6. 저장·표시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012680" y="5623560"/>
            <a:ext cx="15727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Supabase 동기화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updateVersionData()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UI 업데이트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09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인증 &amp; 보안 시스템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엔터프라이즈 수준의 사용자 인증과 데이터 보안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657600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36576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0934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2048256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로그인 &amp; 세션 관리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2395728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① 사원번호(ID) + 비밀번호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② SHA-256 해시 변환 (Web Crypto API)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2944368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③ Supabase users 테이블 비교 검증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218688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④ Zustand currentUser 상태 저장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3493008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⑤ localStorage persist로 세션 유지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444752"/>
            <a:ext cx="4114800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444752"/>
            <a:ext cx="4114800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60934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79392" y="2048256"/>
            <a:ext cx="3785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비밀번호 재설정 4중 검증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79392" y="239572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</a:rPr>
              <a:t>보안 강화: 단순 이메일이 아닌 4가지 정보 검증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79392" y="267004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① 사원번호  ② 실명  ③ 생년월일  ④ 이메일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79392" y="294436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 6자리 코드 생성 (10분 만료)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9392" y="321868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 DB Trigger로 이메일 자동 발송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79392" y="349300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 코드 확인 후 SHA-256 해시 즉시 저장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66760" y="1444752"/>
            <a:ext cx="3822192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1444752"/>
            <a:ext cx="3822192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160934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🛡️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31352" y="20482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라우트 보호 (AuthWrapper)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31352" y="2395728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모든 페이지를 AuthWrapper HOC로 감싸 보호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31352" y="26700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Public 라우트: /login /signup /find-id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/forgot-password /reset-password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31352" y="3108960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미인증 접근 → 즉시 /login 리다이렉트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31352" y="3383280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로그인 상태에서 /login 접근 → /로 리다이렉트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968496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</a:rPr>
              <a:t>🔐  보안 설계 원칙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4352544"/>
            <a:ext cx="28163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🚫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87552" y="4526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평문 비밀번호 저장 없음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974336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SHA-256 단방향 해시만 DB 저장, 복호화 불가능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82696" y="4352544"/>
            <a:ext cx="28163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65576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🔑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950208" y="4526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API 키 서버 측 보호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65576" y="4974336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Resend API 키는 DB Trigger 함수 내부에만, 프론트 미노출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45352" y="4352544"/>
            <a:ext cx="28163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🌐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12864" y="4526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CORS 차단 설계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28232" y="4974336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이메일 발송을 DB Trigger에서 처리해 브라우저 CORS 완전 우회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208008" y="4352544"/>
            <a:ext cx="28163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90888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🍪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875520" y="4526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세션 쿠키 즉시 만료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390888" y="4974336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로그아웃 시 auth_session 쿠키 즉시 expired 처리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CI/CD 파이프라인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push 한 번으로 자동 빌드·배포되는 GitHub Actions 워크플로우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</a:rPr>
              <a:t>🔁  자동 배포 플로우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5440680" cy="493776"/>
          </a:xfrm>
          <a:prstGeom prst="rect">
            <a:avLst>
              <a:gd name="adj" fmla="val 18519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6537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TRIGGER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83664" y="18653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git push to main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또는 workflow_dispatch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5440680" cy="493776"/>
          </a:xfrm>
          <a:prstGeom prst="rect">
            <a:avLst>
              <a:gd name="adj" fmla="val 185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1401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JOB: build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83664" y="24140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권한: contents:read, pages:write, id-token:write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5440680" cy="493776"/>
          </a:xfrm>
          <a:prstGeom prst="rect">
            <a:avLst>
              <a:gd name="adj" fmla="val 185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6265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① Checkout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83664" y="29626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소스코드 체크아웃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5440680" cy="493776"/>
          </a:xfrm>
          <a:prstGeom prst="rect">
            <a:avLst>
              <a:gd name="adj" fmla="val 185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1129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② Node 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83664" y="351129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actions/setup-node@v4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npm 캐시 (package-lock.json)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5440680" cy="493776"/>
          </a:xfrm>
          <a:prstGeom prst="rect">
            <a:avLst>
              <a:gd name="adj" fmla="val 185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5993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③ npm install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83664" y="40599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static-verification-dashboard/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의존성 설치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5440680" cy="658368"/>
          </a:xfrm>
          <a:prstGeom prst="rect">
            <a:avLst>
              <a:gd name="adj" fmla="val 13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08576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④ next build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83664" y="4608576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npx next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환경변수: SUPABASE_URL, SUPABASE_ANON_KEY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(RESEND_API_KEY는 DB Trigger로 이전 → 제거됨)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285232"/>
            <a:ext cx="5440680" cy="493776"/>
          </a:xfrm>
          <a:prstGeom prst="rect">
            <a:avLst>
              <a:gd name="adj" fmla="val 185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3218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D353"/>
                </a:solidFill>
              </a:rPr>
              <a:t>⑤ Upload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83664" y="532180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upload-pages-artifact@v3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out/ 정적 파일 업로드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5833872"/>
            <a:ext cx="5440680" cy="493776"/>
          </a:xfrm>
          <a:prstGeom prst="rect">
            <a:avLst>
              <a:gd name="adj" fmla="val 1851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87044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JOB: deploy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83664" y="587044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deploy-pages@v4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GitHub Pages에 실시간 배포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0" y="1444752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</a:rPr>
              <a:t>✨  이 구성의 장점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1828800"/>
            <a:ext cx="5943600" cy="877824"/>
          </a:xfrm>
          <a:prstGeom prst="rect">
            <a:avLst>
              <a:gd name="adj" fmla="val 10417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19202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💰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01968" y="19385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무료 호스팅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01968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GitHub Pages는 퍼블릭 저장소 무료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추가 서버 비용 없음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2779776"/>
            <a:ext cx="5943600" cy="877824"/>
          </a:xfrm>
          <a:prstGeom prst="rect">
            <a:avLst>
              <a:gd name="adj" fmla="val 10417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87121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01968" y="28895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자동 배포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01968" y="3236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코드 push → 2분 내 전 세계 CDN 반영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수동 배포 과정 완전 제거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3730752"/>
            <a:ext cx="5943600" cy="877824"/>
          </a:xfrm>
          <a:prstGeom prst="rect">
            <a:avLst>
              <a:gd name="adj" fmla="val 10417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38221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🏗️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01968" y="38404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빌드 일관성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601968" y="4187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항상 동일한 Node.js 20 환경에서 빌드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"내 PC에서는 됐는데..." 없음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43600" y="4681728"/>
            <a:ext cx="5943600" cy="877824"/>
          </a:xfrm>
          <a:prstGeom prst="rect">
            <a:avLst>
              <a:gd name="adj" fmla="val 10417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47731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🔐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01968" y="479145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시크릿 관리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601968" y="51389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Supabase 키를 GitHub Secrets에 보관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소스코드에 절대 노출 안 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43600" y="5632704"/>
            <a:ext cx="5943600" cy="877824"/>
          </a:xfrm>
          <a:prstGeom prst="rect">
            <a:avLst>
              <a:gd name="adj" fmla="val 10417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572414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📄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601968" y="57424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</a:rPr>
              <a:t>정적 빌드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601968" y="6089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SSR 없이 HTML/CSS/JS만 배포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서버 다운 위험 제로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6492240"/>
            <a:ext cx="11521440" cy="201168"/>
          </a:xfrm>
          <a:prstGeom prst="rect">
            <a:avLst>
              <a:gd name="adj" fmla="val 4545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510528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concurrency 설정으로 동일 배포 중복 방지 | cancel-in-progress: false (배포 중 취소 없음)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132588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200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정적검증 업무에 최적화된 특징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MBD 정적검증 현장의 니즈를 반영한 도메인 전용 설계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7307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3730752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41832" y="155448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270개 규칙 × 16 서브시스템 교차 관리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3456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MAB 115개 + MISRA 155개 규칙을 서브시스템 A~P별로 교차 집계합니다.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기존 Excel은 규칙×서브시스템 매트릭스를 수동으로 집계했으나,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이 포탈은 데이터 입력 즉시 자동 집계하여 실수를 방지합니다.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42232" y="1444752"/>
            <a:ext cx="37307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42232" y="1444752"/>
            <a:ext cx="37307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15361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64024" y="155448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Component / Runnable 이중 검사 구조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79392" y="2039112"/>
            <a:ext cx="3456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Simulink 정적검증은 Component(블록 단위)와 Runnable(실행 단위) 두 레벨로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분리 검사합니다. 포탈은 두 레벨을 독립적으로 추적하여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각각의 검사 수·분석 완료 수·소요시간을 별도 관리합니다.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64424" y="1444752"/>
            <a:ext cx="37307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64424" y="1444752"/>
            <a:ext cx="3730752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1584" y="15361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🗂️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86216" y="155448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버전 기반 이력 추적 (무제한)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01584" y="2039112"/>
            <a:ext cx="3456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매 검증 회차(v1.0, v1.1, v2.0...)를 독립된 버전으로 관리합니다.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이전 버전과 현재 버전의 소요시간 차이(증감)를 자동 비교하여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검증 효율 개선 여부를 정량적으로 확인할 수 있습니다.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37307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22192"/>
            <a:ext cx="3730752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136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1832" y="393192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AI 기반 위배 패턴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16552"/>
            <a:ext cx="3456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위배 건수·이슈·리스크를 Gemini AI가 자동 분석하여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"어떤 규칙이 어느 서브시스템에서 반복적으로 위배되는가"를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자연어로 요약해 비전문가도 이해할 수 있는 리포트를 생성합니다.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42232" y="3822192"/>
            <a:ext cx="37307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42232" y="3822192"/>
            <a:ext cx="3730752" cy="45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39136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⏱️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64024" y="393192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검증 소요시간 정량 평가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79392" y="4416552"/>
            <a:ext cx="3456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담당자별 서브시스템 검증 시간을 입력하면 직전 버전 대비 증가/감소를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색깔로 시각화합니다. 이를 통해 병목 서브시스템을 식별하고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인력·일정 계획을 데이터 기반으로 조정할 수 있습니다.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64424" y="3822192"/>
            <a:ext cx="3730752" cy="2286000"/>
          </a:xfrm>
          <a:prstGeom prst="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64424" y="3822192"/>
            <a:ext cx="3730752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39136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📝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586216" y="3931920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</a:rPr>
              <a:t>고객·팀 이중 보고서 자동화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01584" y="4416552"/>
            <a:ext cx="3456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동일 데이터로 팀 내부용(기술 상세)과 고객 납품용(요약) 두 종류의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보고서 초안을 AI가 자동 생성합니다. 매 버전 보고서를 새로 작성하는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반복 노동이 사라지고 검토·수정에만 집중할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6"/>
          </a:solidFill>
          <a:ln w="12700">
            <a:solidFill>
              <a:srgbClr val="0A0F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49E"/>
                </a:solidFill>
              </a:rPr>
              <a:t>12 / 12  —  기대 효과 &amp; 마무리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기대 효과 &amp; 마무리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이 포탈이 가져올 정적검증 업무의 변화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14300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2212848" cy="2606040"/>
          </a:xfrm>
          <a:prstGeom prst="rect">
            <a:avLst>
              <a:gd name="adj" fmla="val 4132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2212848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⏱️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" y="210312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검증 집계 시간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250545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BEFORE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" y="272491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수 시간 (수작업)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305409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AFTER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" y="32735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실시간 자동화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06624" y="1508760"/>
            <a:ext cx="2212848" cy="2606040"/>
          </a:xfrm>
          <a:prstGeom prst="rect">
            <a:avLst>
              <a:gd name="adj" fmla="val 4132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1508760"/>
            <a:ext cx="2212848" cy="4572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34640" y="210312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휴먼 에러율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250545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BEFORE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4640" y="272491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높음 (Excel)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305409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AFTER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34640" y="32735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</a:rPr>
              <a:t>구조적 제거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47488" y="1508760"/>
            <a:ext cx="2212848" cy="2606040"/>
          </a:xfrm>
          <a:prstGeom prst="rect">
            <a:avLst>
              <a:gd name="adj" fmla="val 4132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7488" y="1508760"/>
            <a:ext cx="2212848" cy="4572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75504" y="210312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팀 데이터 공유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75504" y="250545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BEFORE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75504" y="272491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메일·공유폴더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75504" y="305409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AFTER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5504" y="32735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실시간 클라우드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88352" y="1508760"/>
            <a:ext cx="2212848" cy="2606040"/>
          </a:xfrm>
          <a:prstGeom prst="rect">
            <a:avLst>
              <a:gd name="adj" fmla="val 4132"/>
            </a:avLst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88352" y="1508760"/>
            <a:ext cx="2212848" cy="4572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516368" y="210312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AI 분석 활용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16368" y="250545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BEFORE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16368" y="272491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없음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16368" y="305409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AFTER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16368" y="32735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</a:rPr>
              <a:t>Gemini 자동 분석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29216" y="1508760"/>
            <a:ext cx="2212848" cy="2606040"/>
          </a:xfrm>
          <a:prstGeom prst="rect">
            <a:avLst>
              <a:gd name="adj" fmla="val 4132"/>
            </a:avLst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9216" y="1508760"/>
            <a:ext cx="2212848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38944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</a:rPr>
              <a:t>🚀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857232" y="2103120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배포 주기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57232" y="250545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BEFORE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857232" y="272491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없음(정적문서)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857232" y="3054096"/>
            <a:ext cx="1956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AFTER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57232" y="327355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</a:rPr>
              <a:t>push 즉시 자동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251960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</a:rPr>
              <a:t>🗺️  전체 요약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4645152"/>
            <a:ext cx="11430000" cy="1920240"/>
          </a:xfrm>
          <a:prstGeom prst="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7365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  이 포탈은 MAB/MISRA 기반 정적검증 업무 전체 사이클(검증→집계→분석→보고)을 단일 웹 애플리케이션에서 처리합니다.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51389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Next.js Static Export + GitHub Pages로 서버 없이 무료로 운영되며, Supabase가 실시간 백엔드 역할을 합니다.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55412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  Gemini AI가 위배 분석·리스크 식별·보고서 초안 생성을 자동화하여 반복 업무를 줄이고 의사결정 품질을 높입니다.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  SHA-256 인증·DB Trigger 이메일·GitHub Secrets 관리로 보안 설계를 처음부터 반영했습니다.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2026-03-23T00:26:09Z</dcterms:created>
  <dcterms:modified xsi:type="dcterms:W3CDTF">2026-03-23T00:26:09Z</dcterms:modified>
</cp:coreProperties>
</file>