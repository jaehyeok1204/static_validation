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82296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0D2A4D"/>
          </a:solidFill>
          <a:ln w="12700">
            <a:solidFill>
              <a:srgbClr val="1D4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9768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58A6FF"/>
                </a:solidFill>
              </a:rPr>
              <a:t>ARCHITECTURE OVERVIEW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132588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</a:rPr>
              <a:t>정적검증 업무 포탈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</a:rPr>
              <a:t>시스템 아키텍처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VPC-S 1.2 HEV 모델 정적검증 업무를 지원하는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클라우드 네이티브 풀스택 웹 애플리케이션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0"/>
            <a:ext cx="1920240" cy="1188720"/>
          </a:xfrm>
          <a:prstGeom prst="rect">
            <a:avLst>
              <a:gd name="adj" fmla="val 923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480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8A6FF"/>
                </a:solidFill>
              </a:rPr>
              <a:t>15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5029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Pages / Routes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4389120"/>
            <a:ext cx="1920240" cy="1188720"/>
          </a:xfrm>
          <a:prstGeom prst="rect">
            <a:avLst>
              <a:gd name="adj" fmla="val 923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4480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EE787"/>
                </a:solidFill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5029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DB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4389120"/>
            <a:ext cx="1920240" cy="1188720"/>
          </a:xfrm>
          <a:prstGeom prst="rect">
            <a:avLst>
              <a:gd name="adj" fmla="val 923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4480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2A8FF"/>
                </a:solidFill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9160" y="5029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389120"/>
            <a:ext cx="1920240" cy="1188720"/>
          </a:xfrm>
          <a:prstGeom prst="rect">
            <a:avLst>
              <a:gd name="adj" fmla="val 923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480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657"/>
                </a:solidFill>
              </a:rPr>
              <a:t>16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12280" y="5029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Subsystems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4389120"/>
            <a:ext cx="1920240" cy="1188720"/>
          </a:xfrm>
          <a:prstGeom prst="rect">
            <a:avLst>
              <a:gd name="adj" fmla="val 923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4480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8166"/>
                </a:solidFill>
              </a:rPr>
              <a:t>∞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915400" y="5029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Versions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</a:rPr>
              <a:t>SLIDE 02  —  Big Picture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전체 시스템 구성도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주요 계층과 서비스 간의 관계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13385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2286000"/>
            <a:ext cx="3474720" cy="1005840"/>
          </a:xfrm>
          <a:prstGeom prst="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4747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</a:rPr>
              <a:t>정적검증 포탈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Next.js 16 (Static Export)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2560320" cy="868680"/>
          </a:xfrm>
          <a:prstGeom prst="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45920"/>
            <a:ext cx="25603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🏗 Frontend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React 19 · TypeScript · TailwindCSS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560320" cy="868680"/>
          </a:xfrm>
          <a:prstGeom prst="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34640"/>
            <a:ext cx="256032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26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📦 State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Zustand + persist middleware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1463040"/>
            <a:ext cx="2560320" cy="868680"/>
          </a:xfrm>
          <a:prstGeom prst="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463040"/>
            <a:ext cx="256032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554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🗄 Supabase (PostgreSQL)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4개 테이블 · REST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61120" y="2514600"/>
            <a:ext cx="2560320" cy="868680"/>
          </a:xfrm>
          <a:prstGeom prst="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2514600"/>
            <a:ext cx="256032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🤖 Gemini AI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9828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동적 모델 탐색 + Fallback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61120" y="3566160"/>
            <a:ext cx="2560320" cy="868680"/>
          </a:xfrm>
          <a:prstGeom prst="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0" y="3566160"/>
            <a:ext cx="2560320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3657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📧 Resend Email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982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이메일 (DB Trigger 방식)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4526280"/>
            <a:ext cx="3474720" cy="868680"/>
          </a:xfrm>
          <a:prstGeom prst="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526280"/>
            <a:ext cx="347472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4617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🚀 CI/CD &amp; Deploy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51960" y="4983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GitHub Actions → GitHub Pages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0" y="1325880"/>
            <a:ext cx="3474720" cy="777240"/>
          </a:xfrm>
          <a:prstGeom prst="rect">
            <a:avLst>
              <a:gd name="adj" fmla="val 141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1325880"/>
            <a:ext cx="347472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🔐 Auth 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5196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SHA-256 Hash · 쿠키 세션 관리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2075688"/>
            <a:ext cx="1280160" cy="0"/>
          </a:xfrm>
          <a:prstGeom prst="line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2834640" y="3264408"/>
            <a:ext cx="1280160" cy="0"/>
          </a:xfrm>
          <a:prstGeom prst="line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7589520" y="1892808"/>
            <a:ext cx="1371600" cy="0"/>
          </a:xfrm>
          <a:prstGeom prst="line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7589520" y="2926080"/>
            <a:ext cx="1371600" cy="0"/>
          </a:xfrm>
          <a:prstGeom prst="line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ysDot"/>
          </a:ln>
        </p:spPr>
      </p:sp>
      <p:sp>
        <p:nvSpPr>
          <p:cNvPr id="42" name="Shape 40"/>
          <p:cNvSpPr/>
          <p:nvPr/>
        </p:nvSpPr>
        <p:spPr>
          <a:xfrm>
            <a:off x="7589520" y="3995928"/>
            <a:ext cx="1371600" cy="0"/>
          </a:xfrm>
          <a:prstGeom prst="line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5852160" y="2103120"/>
            <a:ext cx="0" cy="182880"/>
          </a:xfrm>
          <a:prstGeom prst="line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ysDot"/>
          </a:ln>
        </p:spPr>
      </p:sp>
      <p:sp>
        <p:nvSpPr>
          <p:cNvPr id="44" name="Shape 42"/>
          <p:cNvSpPr/>
          <p:nvPr/>
        </p:nvSpPr>
        <p:spPr>
          <a:xfrm>
            <a:off x="5852160" y="3291840"/>
            <a:ext cx="0" cy="1234440"/>
          </a:xfrm>
          <a:prstGeom prst="line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ysDot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</a:rPr>
              <a:t>SLIDE 03  —  Frontend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프론트엔드 레이어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Next.js 16 App Router 기반 — 총 15개 라우트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13385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00" cy="201168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54864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5084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앱 라우트 구조 (App Router)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414016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[Sidebar 메뉴 10개]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51760"/>
            <a:ext cx="5084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/ (개요) · /subsystems · /rules · /issues · /risks · /time_evaluation · /reports · /ai_chat · /data_editor · /setting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3099816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</a:rPr>
              <a:t>[인증 페이지 5개]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337560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/login · /signup · /find-id · /forgot-password · /reset-password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575304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</a:rPr>
              <a:t>[기타] /time — 소요시간 평가 및 비교 (Sidebar 외 별도 페이지)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5486400" cy="2148840"/>
          </a:xfrm>
          <a:prstGeom prst="rect">
            <a:avLst>
              <a:gd name="adj" fmla="val 51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11880"/>
            <a:ext cx="548640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776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4187952"/>
            <a:ext cx="5084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공유 컴포넌트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517136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Sidebar.tsx — 10개 메뉴, 반응형 모바일 드로어 지원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4754880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PageHeader.tsx — 버전 선택기, 페이지별 제목/설명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4992624"/>
            <a:ext cx="5084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AuthWrapper.tsx — 앱 마운트 시 syncFromDB() 자동 호출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미로그인 시 /login 리다이렉트 · 로그인 상태에서 /login 접근 시 /로 리다이렉트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5486400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app/data/ — 데이터 파일(mockData.ts) 폴더 (라우트 아님)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508760"/>
            <a:ext cx="5669280" cy="201168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508760"/>
            <a:ext cx="566928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084832"/>
            <a:ext cx="5266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상태 관리 (Zustand)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2414016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useStore.ts (799줄) — 단일 전역 스토어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2651760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주요 상태: 현재 사용자, 버전별 검증 데이터, 테마, Gemini API 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2889504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persist 미들웨어: localStorage에 버전데이터·테마·로그인상태 자동 저장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3127248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zustand  ·  persist  ·  localStorage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611880"/>
            <a:ext cx="5669280" cy="2148840"/>
          </a:xfrm>
          <a:prstGeom prst="rect">
            <a:avLst>
              <a:gd name="adj" fmla="val 51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3611880"/>
            <a:ext cx="566928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3776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36208" y="4187952"/>
            <a:ext cx="5266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배포 설정 (next.config.ts)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36208" y="4517136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output: 'export' → 완전 정적 빌드 (SSR 없음)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4754880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이미지 최적화 비활성화 (unoptimized: true)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36208" y="4992624"/>
            <a:ext cx="526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빌드 타임 환경변수 주입: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NEXT_PUBLIC_SUPABASE_URL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NEXT_PUBLIC_SUPABASE_ANON_KEY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5532120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Static Export  ·  GitHub Pages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5824728"/>
            <a:ext cx="2651760" cy="384048"/>
          </a:xfrm>
          <a:prstGeom prst="rect">
            <a:avLst>
              <a:gd name="adj" fmla="val 2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5824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🎨 light 테마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0" y="5824728"/>
            <a:ext cx="2651760" cy="384048"/>
          </a:xfrm>
          <a:prstGeom prst="rect">
            <a:avLst>
              <a:gd name="adj" fmla="val 2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5824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🎨 dark 테마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5824728"/>
            <a:ext cx="2651760" cy="384048"/>
          </a:xfrm>
          <a:prstGeom prst="rect">
            <a:avLst>
              <a:gd name="adj" fmla="val 2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5824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🎨 blue 테마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869680" y="5824728"/>
            <a:ext cx="2651760" cy="384048"/>
          </a:xfrm>
          <a:prstGeom prst="rect">
            <a:avLst>
              <a:gd name="adj" fmla="val 2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0" y="5824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8166"/>
                </a:solidFill>
              </a:rPr>
              <a:t>🎨 red 테마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</a:rPr>
              <a:t>SLIDE 04  —  Backend &amp; Database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백엔드 &amp; 데이터베이스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Supabase (PostgreSQL) 기반 Serverless 백엔드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13385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00" cy="2331720"/>
          </a:xfrm>
          <a:prstGeom prst="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548640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🗄️  Supabase DB 테이블 (4개)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22860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2029968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사용자 계정 · SHA-256 해시 비밀번호 · Gemini API 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22860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app_state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459736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버전별 검증 데이터 전체 (JSON BLOB, id=1 단일 레코드)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22860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verification_codes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889504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비밀번호 재설정 인증번호 (10분 만료, 사용 후 삭제)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19272"/>
            <a:ext cx="22860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chat_messages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3319272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채팅 히스토리 (user_id별, 최대 50건 로드)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5486400" cy="1874520"/>
          </a:xfrm>
          <a:prstGeom prst="rect">
            <a:avLst>
              <a:gd name="adj" fmla="val 58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31920"/>
            <a:ext cx="5486400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096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4507992"/>
            <a:ext cx="5084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이메일 워크플로우 (Resend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837176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DB Trigger 방식 — CORS 및 보안 이슈 완전 해결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5074920"/>
            <a:ext cx="5084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INSERT verification_codes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 SQL Trigger (tr_send_verif_email)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 extensions.http_post() → Resend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 사용자 이메일 수신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508760"/>
            <a:ext cx="5669280" cy="2148840"/>
          </a:xfrm>
          <a:prstGeom prst="rect">
            <a:avLst>
              <a:gd name="adj" fmla="val 51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508760"/>
            <a:ext cx="566928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084832"/>
            <a:ext cx="5266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인증 시스템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2414016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비밀번호: Web Crypto API SHA-256 해시 (평문 저장 절대 없음)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2651760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세션: 쿠키 기반 auth_session 관리 (로그아웃 시 즉시 만료)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2889504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보호: AuthWrapper HOC — 라우트 변경 시마다 인증 상태 검증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3127248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Public 라우트: /login /signup /forgot-password /reset-password /find-id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3364992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비밀번호 재설정: ID + 이름 + 생년월일 + 이메일 4중 검증 → 코드 발송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749040"/>
            <a:ext cx="5669280" cy="2057400"/>
          </a:xfrm>
          <a:prstGeom prst="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749040"/>
            <a:ext cx="566928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9136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236208" y="4325112"/>
            <a:ext cx="5266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데이터 동기화 전략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4654296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초기 로드: AuthWrapper 마운트 시 syncFromDB() 자동 호출 (1회)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36208" y="4892040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syncFromDB(): users + app_state 최신 데이터 Supabase에서 로드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5129784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syncToDB(): 데이터 변경 시마다 upsert (app_state id=1 레코드)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5367528"/>
            <a:ext cx="5266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Export/Import: JSON 파일로 전체 버전 데이터 백업·복원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</a:rPr>
              <a:t>SLIDE 05  —  AI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AI 기능 상세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Google Gemini API를 통한 3가지 AI 분석 기능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13385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3703320" cy="288036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370332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대시보드 AI 요약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runAIAnalysis()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414016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현재 버전의 진척도·일정·이슈 수·규칙위배 현황을 종합 분석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51760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전문가 시각 3~4문장 한국어 코멘트 자동 생성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89504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결과: dashboardData.aiSummary에 저장 후 Supabase 동기화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📄 Dashboard Page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60520" y="1508760"/>
            <a:ext cx="3703320" cy="288036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508760"/>
            <a:ext cx="3703320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61688" y="2084832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리스크 AI 분석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runAIRiskAnalysis()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61688" y="2414016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진척도·일정·이슈 목록으로 3개 리스크 JSON 자동 생성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61688" y="2651760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각 항목: title / content / aiRecommendation / level(Low·Med·High)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61688" y="2889504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Markdown 코드블록 자동 제거 후 JSON 파싱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61688" y="3127248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</a:rPr>
              <a:t>⚠️ Risks Page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508760"/>
            <a:ext cx="3703320" cy="288036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1508760"/>
            <a:ext cx="370332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644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156448" y="2084832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이슈 AI 추천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AI 채팅 어시스턴트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56448" y="2414016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이슈별 runIssueAIAnalysis() — 해결 방안 1~2문장 추천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56448" y="2651760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채팅: 프로젝트 컨텍스트 + 최근 5개 대화 히스토리 포함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56448" y="2889504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채팅 로그 chat_messages 테이블 영구 저장 (최대 50건 로드)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3127248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</a:rPr>
              <a:t>💬 AI Chat Page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526280"/>
            <a:ext cx="11430000" cy="1325880"/>
          </a:xfrm>
          <a:prstGeom prst="rect">
            <a:avLst>
              <a:gd name="adj" fmla="val 827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526280"/>
            <a:ext cx="114300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177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📡 Gemini API 키 우선순위 및 호출 흐름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901184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API 키 우선순위: ① 사용자 저장 overrideKey → ② NEXT_PUBLIC_GEMINI_API_KEY 환경변수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5138928"/>
            <a:ext cx="1389888" cy="548640"/>
          </a:xfrm>
          <a:prstGeom prst="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13892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사용자 요청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55648" y="52303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A6FF"/>
                </a:solidFill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938528" y="5138928"/>
            <a:ext cx="1389888" cy="548640"/>
          </a:xfrm>
          <a:prstGeom prst="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513892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useStore 액션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28416" y="52303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A6FF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511296" y="5138928"/>
            <a:ext cx="1389888" cy="548640"/>
          </a:xfrm>
          <a:prstGeom prst="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513892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analyzeDataWithAI()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01184" y="52303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A6FF"/>
                </a:solidFill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84064" y="5138928"/>
            <a:ext cx="1389888" cy="548640"/>
          </a:xfrm>
          <a:prstGeom prst="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513892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① 동적 모델 탐색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listAvailableModels()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73952" y="52303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A6FF"/>
                </a:solidFill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656832" y="5138928"/>
            <a:ext cx="1389888" cy="548640"/>
          </a:xfrm>
          <a:prstGeom prst="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513892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② Fallback 목록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(5개 모델 시도)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52303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A6FF"/>
                </a:solidFill>
              </a:rPr>
              <a:t>→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229600" y="5138928"/>
            <a:ext cx="1389888" cy="548640"/>
          </a:xfrm>
          <a:prstGeom prst="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513892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응답 파싱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DB 저장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619488" y="52303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A6FF"/>
                </a:solidFill>
              </a:rPr>
              <a:t>→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802368" y="5138928"/>
            <a:ext cx="1389888" cy="548640"/>
          </a:xfrm>
          <a:prstGeom prst="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02368" y="513892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</a:rPr>
              <a:t>UI 업데이트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</a:rPr>
              <a:t>SLIDE 06  —  Data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핵심 데이터 모델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버전 관리 구조와 검증 데이터 타입 정의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13385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760720" cy="27432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57607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5358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버전 관리 구조 (VersionData)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414016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versions: string[]          // ['v1.0', 'v1.1', ...]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51760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versionedData: Record&lt;number, VersionData&gt;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89504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dashboardData    — 전체 진척도, 일정 상태, AI 요약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chartData         — 날짜별 검출/분석 추이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364992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subsystemsList   — 16개 서브시스템 (A~P)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02736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rulesList          — MAB + MISRA 규칙별 위배수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840480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issuesList         — 이슈 관리 목록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78224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risksList           — AI 생성 리스크 목록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31596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timeEvaluationComponent/Runnable — 소요시간 평가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4553712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reportsDraft      — AI 보고서 초안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5760720" cy="150876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343400"/>
            <a:ext cx="576072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507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4919472"/>
            <a:ext cx="5358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정적 검증 규칙 체계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5248656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MAB 규칙: 115개 (MAB_AR_* · MAB_DB_* · MAB_JC_* · MAB_NA_* 등)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5486400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MISRA 규칙: 155개 (MISRA_AC_SLSF_*)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5724144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각 규칙: subsystemViolations: Record&lt;string, number&gt; — 16개 서브시스템 위배 건수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508760"/>
            <a:ext cx="5394960" cy="2423160"/>
          </a:xfrm>
          <a:prstGeom prst="rect">
            <a:avLst>
              <a:gd name="adj" fmla="val 45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508760"/>
            <a:ext cx="539496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1673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10528" y="2084832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사용자 데이터 모델 (User)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10528" y="2414016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</a:rPr>
              <a:t>id: string           // 사원번호 (로그인 ID)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0528" y="2651760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email: string        // 이메일 (비밀번호 재설정용)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0528" y="2889504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password?: string   // SHA-256 해시 (평문 저장 없음)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10528" y="3127248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name: string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0528" y="3364992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birthDate: string   // 비밀번호 재설정 4중검증 항목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10528" y="3602736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teamName: string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840480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position: string    // 직책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10528" y="4078224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geminiApiKey?: string // 개인용 Gemini 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4023360"/>
            <a:ext cx="5394960" cy="18288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4023360"/>
            <a:ext cx="539496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4187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510528" y="4599432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테마 시스템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10528" y="4928616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4가지 테마: light / dark / blue / red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10528" y="5166360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CSS Custom Properties (var(--bg-color) 등) 로 런타임 전환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10528" y="5404104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data-theme attribute를 &lt;html&gt; 루트에 적용 (layout.tsx 기본값: light)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10528" y="5641848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Zustand persist — 새로고침 후에도 테마 유지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</a:rPr>
              <a:t>SLIDE 07  —  DevOps &amp;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CI/CD &amp; 기술 스택 요약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GitHub Actions 자동화 배포 및 전체 기술 계층도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13385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394960" cy="4526280"/>
          </a:xfrm>
          <a:prstGeom prst="rect">
            <a:avLst>
              <a:gd name="adj" fmla="val 24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539496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🔁  GitHub Actions 파이프라인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5074920" cy="384048"/>
          </a:xfrm>
          <a:prstGeom prst="rect">
            <a:avLst>
              <a:gd name="adj" fmla="val 28571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TRIGGERpush to main 브랜치 (workflow_dispatch 지원)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237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① Checkout 소스코드 (actions/checkout@v4)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44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② Node.js 20 설정 (npm 캐시: package-lock.json)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649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③ npm install — static-verification-dashboard/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85616"/>
            <a:ext cx="484632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④ npx next build — 환경변수 주입: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  NEXT_PUBLIC_SUPABASE_URL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  NEXT_PUBLIC_SUPABASE_ANON_KEY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  ⚠️ RESEND_API_KEY는 DB Trigger로 이전되어 제거됨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5994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⑤ out/ 아티팩트 업로드 (upload-pages-artifact@v3)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0200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⑥ GitHub Pages 배포 (deploy-pages@v4)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422392"/>
            <a:ext cx="5074920" cy="384048"/>
          </a:xfrm>
          <a:prstGeom prst="rect">
            <a:avLst>
              <a:gd name="adj" fmla="val 28571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406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LIVEGitHub Pages URL 공개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508760"/>
            <a:ext cx="5806440" cy="4526280"/>
          </a:xfrm>
          <a:prstGeom prst="rect">
            <a:avLst>
              <a:gd name="adj" fmla="val 24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508760"/>
            <a:ext cx="580644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6276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🏛️  기술 스택 계층도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2084832"/>
            <a:ext cx="5577840" cy="438912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084832"/>
            <a:ext cx="914400" cy="438912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10312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UI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5160" y="210312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React 19  ·  TailwindCSS 4  ·  Recharts  ·  lucide-react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606040"/>
            <a:ext cx="5577840" cy="438912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606040"/>
            <a:ext cx="914400" cy="438912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6243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Router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262432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Next.js 16 App Router  ·  output=export (정적)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127248"/>
            <a:ext cx="5577840" cy="438912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127248"/>
            <a:ext cx="914400" cy="438912"/>
          </a:xfrm>
          <a:prstGeom prst="rect">
            <a:avLst/>
          </a:prstGeom>
          <a:solidFill>
            <a:srgbClr val="D2A8FF">
              <a:alpha val="25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14553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A8FF"/>
                </a:solidFill>
              </a:rPr>
              <a:t>State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314553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Zustand  ·  persist middleware  ·  localStorage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648456"/>
            <a:ext cx="5577840" cy="438912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3648456"/>
            <a:ext cx="914400" cy="438912"/>
          </a:xfrm>
          <a:prstGeom prst="rect">
            <a:avLst/>
          </a:prstGeom>
          <a:solidFill>
            <a:srgbClr val="FFA657">
              <a:alpha val="25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366674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366674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@google/generative-ai  ·  lib/gemini.ts  ·  동적 모델 탐색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4169664"/>
            <a:ext cx="5577840" cy="438912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69664"/>
            <a:ext cx="914400" cy="438912"/>
          </a:xfrm>
          <a:prstGeom prst="rect">
            <a:avLst/>
          </a:prstGeom>
          <a:solidFill>
            <a:srgbClr val="F78166">
              <a:alpha val="25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418795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8166"/>
                </a:solidFill>
              </a:rPr>
              <a:t>Security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95160" y="418795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SHA-256 (Web Crypto API)  ·  Cookie Session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4690872"/>
            <a:ext cx="5577840" cy="438912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4690872"/>
            <a:ext cx="914400" cy="438912"/>
          </a:xfrm>
          <a:prstGeom prst="rect">
            <a:avLst/>
          </a:prstGeom>
          <a:solidFill>
            <a:srgbClr val="7EE787">
              <a:alpha val="25000"/>
            </a:srgbClr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47091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Data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95160" y="470916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Supabase PostgreSQL  ·  4 Tables  ·  Resend (DB Trigger)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5212080"/>
            <a:ext cx="5577840" cy="438912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5212080"/>
            <a:ext cx="914400" cy="438912"/>
          </a:xfrm>
          <a:prstGeom prst="rect">
            <a:avLst/>
          </a:prstGeom>
          <a:solidFill>
            <a:srgbClr val="39D353">
              <a:alpha val="25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523036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Deploy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95160" y="52303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GitHub Actions  →  GitHub Pages  ·  Permissions: id-token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2026-03-23T00:12:35Z</dcterms:created>
  <dcterms:modified xsi:type="dcterms:W3CDTF">2026-03-23T00:12:35Z</dcterms:modified>
</cp:coreProperties>
</file>